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Thank you for your interest. This brief covers the goal, platform, pages, design direction, handoff, and budget. Questions welcome at the end.</a:t>
            </a:r>
            <a:endParaRPr sz="14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The most important requirement: after handoff, church staff and volunteers must be able to update the site themselves. Every other choice should serve that.</a:t>
            </a:r>
            <a:endParaRPr sz="1400"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The current site is a custom PHP site on plain HTTP. It has good YouTube content and contact info we can reuse. Korean school pages are no longer needed. Missions stays as its own page.</a:t>
            </a:r>
            <a:endParaRPr sz="1400"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We are open to Squarespace or Wix. Please propose the one you recommend for a volunteer-maintained church site and name the template you would start from. No custom code.</a:t>
            </a:r>
            <a:endParaRPr sz="1400"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Keep navigation flat and simple. Contact can live in the footer and on the Visit page rather than as its own nav item.</a:t>
            </a:r>
            <a:endParaRPr sz="1400"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The two buttons — Plan Your Visit and Watch a Sermon — are the main calls to action. Service time and address should be visible without scrolling.</a:t>
            </a:r>
            <a:endParaRPr sz="1400"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This is a sketch, not a design. Big welcoming photo, service time and address visible immediately, two buttons, then the latest sermon, events, and ministries. Korean link in the footer and header.</a:t>
            </a:r>
            <a:endParaRPr sz="1400"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Mobile first: service time, address, and Plan Your Visit within one thumb-scroll. The Korean section is intentionally small — one page the Korean congregation actually uses, not a full mirror site.</a:t>
            </a:r>
            <a:endParaRPr sz="1400"/>
          </a:p>
        </p:txBody>
      </p:sp>
      <p:sp>
        <p:nvSpPr>
          <p:cNvPr id="190" name="Google Shape;1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Open one or two of these live demos during the meeting so the freelancer sees the style we want. Ask them which template they would start from.</a:t>
            </a:r>
            <a:endParaRPr sz="1400"/>
          </a:p>
        </p:txBody>
      </p:sp>
      <p:sp>
        <p:nvSpPr>
          <p:cNvPr id="214" name="Google Shape;2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Visit page should include a Plan Your Visit button. Ministries must be an easy-to-edit section so the church can add or remove items without help.</a:t>
            </a:r>
            <a:endParaRPr sz="1400"/>
          </a:p>
        </p:txBody>
      </p:sp>
      <p:sp>
        <p:nvSpPr>
          <p:cNvPr id="234" name="Google Shape;2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Sermons: integrate YouTube so the site does not need rebuilding each week. Give: link out, do not build a payment system.</a:t>
            </a:r>
            <a:endParaRPr sz="1400"/>
          </a:p>
        </p:txBody>
      </p:sp>
      <p:sp>
        <p:nvSpPr>
          <p:cNvPr id="261" name="Google Shape;26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Warm and welcoming, not flashy. Think of a first-time visitor on a phone: can they find the service time and address in five seconds?</a:t>
            </a:r>
            <a:endParaRPr sz="1400"/>
          </a:p>
        </p:txBody>
      </p:sp>
      <p:sp>
        <p:nvSpPr>
          <p:cNvPr id="288" name="Google Shape;28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The church should never need to hire the freelancer for routine updates. The video walkthrough and written guide are part of the deliverable, not extras.</a:t>
            </a:r>
            <a:endParaRPr sz="1400"/>
          </a:p>
        </p:txBody>
      </p:sp>
      <p:sp>
        <p:nvSpPr>
          <p:cNvPr id="313" name="Google Shape;31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Content is the biggest cost driver. If the church hands over finished text, photos, and links up front, the freelancer only has to set things up.</a:t>
            </a:r>
            <a:endParaRPr sz="1400"/>
          </a:p>
        </p:txBody>
      </p:sp>
      <p:sp>
        <p:nvSpPr>
          <p:cNvPr id="326" name="Google Shape;32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Budget is $500 to $1,000. Ask for examples of similar church or nonprofit sites, a platform recommendation, timeline, and a clear scope.</a:t>
            </a:r>
            <a:endParaRPr sz="1400"/>
          </a:p>
        </p:txBody>
      </p:sp>
      <p:sp>
        <p:nvSpPr>
          <p:cNvPr id="353" name="Google Shape;35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9c96aa675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9c96aa675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f9c96aa675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9c96aa675_1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f9c96aa675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f9c96aa675_1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gospelchurch1.com/index.php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10" Type="http://schemas.openxmlformats.org/officeDocument/2006/relationships/image" Target="../media/image3.png"/><Relationship Id="rId9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9A24B"/>
                </a:solidFill>
                <a:latin typeface="Arial"/>
                <a:ea typeface="Arial"/>
                <a:cs typeface="Arial"/>
                <a:sym typeface="Arial"/>
              </a:rPr>
              <a:t>GOSPEL CHURCH OF CHICAGO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640080" y="1691640"/>
            <a:ext cx="7863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Website Project Brief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9D1DA"/>
                </a:solidFill>
                <a:latin typeface="Arial"/>
                <a:ea typeface="Arial"/>
                <a:cs typeface="Arial"/>
                <a:sym typeface="Arial"/>
              </a:rPr>
              <a:t>English-first, with a short Korean section — simple enough for volunteers to maintain</a:t>
            </a:r>
            <a:endParaRPr b="0" i="0" sz="2000" u="none" cap="none" strike="noStrike">
              <a:solidFill>
                <a:srgbClr val="C9D1D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A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C9D1DA"/>
                </a:solidFill>
              </a:rPr>
              <a:t>Current site: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http://gospelchurch1.com/index.php</a:t>
            </a:r>
            <a:endParaRPr sz="2000">
              <a:solidFill>
                <a:srgbClr val="C9D1D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A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C9D1DA"/>
              </a:solidFill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AA6B2"/>
                </a:solidFill>
                <a:latin typeface="Arial"/>
                <a:ea typeface="Arial"/>
                <a:cs typeface="Arial"/>
                <a:sym typeface="Arial"/>
              </a:rPr>
              <a:t>For freelance web designers  ·  August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The goal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One sentence to anchor every decision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48640" y="1508760"/>
            <a:ext cx="3566160" cy="3017520"/>
          </a:xfrm>
          <a:prstGeom prst="roundRect">
            <a:avLst>
              <a:gd fmla="val 3636" name="adj"/>
            </a:avLst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822960" y="1737360"/>
            <a:ext cx="3017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warm, Christ-centered, clean, professional website — without being complicated.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822960" y="370332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9A24B"/>
                </a:solidFill>
                <a:latin typeface="Arial"/>
                <a:ea typeface="Arial"/>
                <a:cs typeface="Arial"/>
                <a:sym typeface="Arial"/>
              </a:rPr>
              <a:t>Simplicity and ease of maintenance come first.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389120" y="1508760"/>
            <a:ext cx="4206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572000" y="1709928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7730" y="1835658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212080" y="161848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Church owns everything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5212080" y="196596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Account, domain, and subscription are ours.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389120" y="2560320"/>
            <a:ext cx="4206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572000" y="2761488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7730" y="2887218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/>
        </p:nvSpPr>
        <p:spPr>
          <a:xfrm>
            <a:off x="5212080" y="26700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Volunteers can update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5212080" y="301752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Non-technical staff edit text, photos, events.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389120" y="3611880"/>
            <a:ext cx="4206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572000" y="3813048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7730" y="3938778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 txBox="1"/>
          <p:nvPr/>
        </p:nvSpPr>
        <p:spPr>
          <a:xfrm>
            <a:off x="5212080" y="372160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Simple beats clever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5212080" y="406908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No custom code, no complex features.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Where we are today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gospelchurch1.com — custom-built, Korean-first, no HTTPS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8640" y="1508760"/>
            <a:ext cx="2560320" cy="315468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2C6E49"/>
          </a:solidFill>
          <a:ln cap="flat" cmpd="sng" w="12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90" y="18630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 txBox="1"/>
          <p:nvPr/>
        </p:nvSpPr>
        <p:spPr>
          <a:xfrm>
            <a:off x="1417320" y="17373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Keep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822960" y="2423160"/>
            <a:ext cx="219456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YouTube playlists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Address &amp; phone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Pastor's greeting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Prayer requests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Missions news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291840" y="1508760"/>
            <a:ext cx="2560320" cy="315468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566160" y="1737360"/>
            <a:ext cx="502920" cy="502920"/>
          </a:xfrm>
          <a:prstGeom prst="ellipse">
            <a:avLst/>
          </a:prstGeom>
          <a:solidFill>
            <a:srgbClr val="9B2C2C"/>
          </a:solidFill>
          <a:ln cap="flat" cmpd="sng" w="12700">
            <a:solidFill>
              <a:srgbClr val="9B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1890" y="18630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5"/>
          <p:cNvSpPr txBox="1"/>
          <p:nvPr/>
        </p:nvSpPr>
        <p:spPr>
          <a:xfrm>
            <a:off x="4160520" y="17373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Retire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3566160" y="2423160"/>
            <a:ext cx="219456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Korean school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Community board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Legacy banners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035040" y="1508760"/>
            <a:ext cx="2560320" cy="315468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309360" y="1737360"/>
            <a:ext cx="502920" cy="502920"/>
          </a:xfrm>
          <a:prstGeom prst="ellipse">
            <a:avLst/>
          </a:prstGeom>
          <a:solidFill>
            <a:srgbClr val="C9A24B"/>
          </a:solidFill>
          <a:ln cap="flat" cmpd="sng" w="12700">
            <a:solidFill>
              <a:srgbClr val="C9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5090" y="18630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 txBox="1"/>
          <p:nvPr/>
        </p:nvSpPr>
        <p:spPr>
          <a:xfrm>
            <a:off x="6903720" y="17373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Decide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6309360" y="2423160"/>
            <a:ext cx="219456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Bulletins (주보)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Photo gallery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Church email (not personal)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Platform &amp; theme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Either platform is fine — recommend one and say why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48640" y="1508760"/>
            <a:ext cx="3931920" cy="3063240"/>
          </a:xfrm>
          <a:prstGeom prst="roundRect">
            <a:avLst>
              <a:gd fmla="val 3582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822960" y="169164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Squarespace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822960" y="2194560"/>
            <a:ext cx="3474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Cove (church template)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Safe Haven (church template)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Any clean nonprofit template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822960" y="379476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Easiest editor for volunteers; templates can be switched later.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663440" y="1508760"/>
            <a:ext cx="3931920" cy="3063240"/>
          </a:xfrm>
          <a:prstGeom prst="roundRect">
            <a:avLst>
              <a:gd fmla="val 3582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4937760" y="169164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Wix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4937760" y="2194560"/>
            <a:ext cx="3474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Trinity Urban Church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Any Religion-section template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Built-in Events and donation 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4937760" y="379476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Note: a Wix template cannot be changed later without rebuilding.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9A24B"/>
                </a:solidFill>
                <a:latin typeface="Arial"/>
                <a:ea typeface="Arial"/>
                <a:cs typeface="Arial"/>
                <a:sym typeface="Arial"/>
              </a:rPr>
              <a:t>No custom-coded website.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Site map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Eight pages in English, plus a short Korean section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48640" y="1508760"/>
            <a:ext cx="1938528" cy="118872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749808" y="18516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538" y="19773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 txBox="1"/>
          <p:nvPr/>
        </p:nvSpPr>
        <p:spPr>
          <a:xfrm>
            <a:off x="1353312" y="1508760"/>
            <a:ext cx="11155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578608" y="1508760"/>
            <a:ext cx="1938528" cy="118872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2779776" y="18516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506" y="19773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 txBox="1"/>
          <p:nvPr/>
        </p:nvSpPr>
        <p:spPr>
          <a:xfrm>
            <a:off x="3383280" y="1508760"/>
            <a:ext cx="11155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608576" y="1508760"/>
            <a:ext cx="1938528" cy="118872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4809744" y="18516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5474" y="19773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7"/>
          <p:cNvSpPr txBox="1"/>
          <p:nvPr/>
        </p:nvSpPr>
        <p:spPr>
          <a:xfrm>
            <a:off x="5413248" y="1508760"/>
            <a:ext cx="11155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Visit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638544" y="1508760"/>
            <a:ext cx="1938528" cy="118872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6839712" y="18516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5442" y="19773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 txBox="1"/>
          <p:nvPr/>
        </p:nvSpPr>
        <p:spPr>
          <a:xfrm>
            <a:off x="7443216" y="1508760"/>
            <a:ext cx="11155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Ministries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48640" y="2880360"/>
            <a:ext cx="1938528" cy="118872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749808" y="32232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5538" y="33489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 txBox="1"/>
          <p:nvPr/>
        </p:nvSpPr>
        <p:spPr>
          <a:xfrm>
            <a:off x="1353312" y="2880360"/>
            <a:ext cx="11155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Missions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578608" y="2880360"/>
            <a:ext cx="1938528" cy="118872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2779776" y="32232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05506" y="33489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 txBox="1"/>
          <p:nvPr/>
        </p:nvSpPr>
        <p:spPr>
          <a:xfrm>
            <a:off x="3383280" y="2880360"/>
            <a:ext cx="11155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Sermons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608576" y="2880360"/>
            <a:ext cx="1938528" cy="118872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4809744" y="32232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35474" y="33489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 txBox="1"/>
          <p:nvPr/>
        </p:nvSpPr>
        <p:spPr>
          <a:xfrm>
            <a:off x="5413248" y="2880360"/>
            <a:ext cx="11155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638544" y="2880360"/>
            <a:ext cx="1938528" cy="118872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839712" y="32232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65442" y="33489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 txBox="1"/>
          <p:nvPr/>
        </p:nvSpPr>
        <p:spPr>
          <a:xfrm>
            <a:off x="7443216" y="2880360"/>
            <a:ext cx="11155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Give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548640" y="42519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한국어 section: one or two Korean pages — service times, pastor's greeting, prayer requests, directions. Contact info in the footer of every page.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Homepage must-haves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Everything a first-time visitor needs, above the scroll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459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 txBox="1"/>
          <p:nvPr/>
        </p:nvSpPr>
        <p:spPr>
          <a:xfrm>
            <a:off x="960120" y="16002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Welcoming hero with church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1214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 txBox="1"/>
          <p:nvPr/>
        </p:nvSpPr>
        <p:spPr>
          <a:xfrm>
            <a:off x="960120" y="207568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Sunday service 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5968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 txBox="1"/>
          <p:nvPr/>
        </p:nvSpPr>
        <p:spPr>
          <a:xfrm>
            <a:off x="960120" y="255117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Church address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07238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 txBox="1"/>
          <p:nvPr/>
        </p:nvSpPr>
        <p:spPr>
          <a:xfrm>
            <a:off x="960120" y="302666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“Plan Your Visit” button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5478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 txBox="1"/>
          <p:nvPr/>
        </p:nvSpPr>
        <p:spPr>
          <a:xfrm>
            <a:off x="960120" y="3502152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“Watch a Sermon” button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023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 txBox="1"/>
          <p:nvPr/>
        </p:nvSpPr>
        <p:spPr>
          <a:xfrm>
            <a:off x="960120" y="39776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Short introduction to the church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16459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 txBox="1"/>
          <p:nvPr/>
        </p:nvSpPr>
        <p:spPr>
          <a:xfrm>
            <a:off x="5074920" y="16002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Upcoming events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21214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 txBox="1"/>
          <p:nvPr/>
        </p:nvSpPr>
        <p:spPr>
          <a:xfrm>
            <a:off x="5074920" y="207568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Latest sermon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25968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 txBox="1"/>
          <p:nvPr/>
        </p:nvSpPr>
        <p:spPr>
          <a:xfrm>
            <a:off x="5074920" y="255117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Ministries overview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307238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 txBox="1"/>
          <p:nvPr/>
        </p:nvSpPr>
        <p:spPr>
          <a:xfrm>
            <a:off x="5074920" y="302666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Giving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35478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 txBox="1"/>
          <p:nvPr/>
        </p:nvSpPr>
        <p:spPr>
          <a:xfrm>
            <a:off x="5074920" y="3502152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Contact and location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4023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 txBox="1"/>
          <p:nvPr/>
        </p:nvSpPr>
        <p:spPr>
          <a:xfrm>
            <a:off x="5074920" y="39776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Mobile-friendly throughout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What the homepage could look like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A simple sketch — the freelancer will match this to the template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48640" y="1371600"/>
            <a:ext cx="804672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19050">
            <a:solidFill>
              <a:srgbClr val="C9CD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731520" y="144475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GCC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1280160" y="1444752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Home · About · Visit · Ministries · Missions · Sermons · Events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7955280" y="1481328"/>
            <a:ext cx="548640" cy="292608"/>
          </a:xfrm>
          <a:prstGeom prst="roundRect">
            <a:avLst>
              <a:gd fmla="val 50000" name="adj"/>
            </a:avLst>
          </a:prstGeom>
          <a:solidFill>
            <a:srgbClr val="C9A24B"/>
          </a:solidFill>
          <a:ln cap="flat" cmpd="sng" w="12700">
            <a:solidFill>
              <a:srgbClr val="C9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7955280" y="1481328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Give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48640" y="1847088"/>
            <a:ext cx="8046720" cy="1600200"/>
          </a:xfrm>
          <a:prstGeom prst="rect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868680" y="19659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Welcome home.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868680" y="24688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9D1DA"/>
                </a:solidFill>
                <a:latin typeface="Arial"/>
                <a:ea typeface="Arial"/>
                <a:cs typeface="Arial"/>
                <a:sym typeface="Arial"/>
              </a:rPr>
              <a:t>Sundays · [time] · Des Plaines, 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68680" y="2926080"/>
            <a:ext cx="1920240" cy="384048"/>
          </a:xfrm>
          <a:prstGeom prst="roundRect">
            <a:avLst>
              <a:gd fmla="val 50000" name="adj"/>
            </a:avLst>
          </a:prstGeom>
          <a:solidFill>
            <a:srgbClr val="C9A24B"/>
          </a:solidFill>
          <a:ln cap="flat" cmpd="sng" w="12700">
            <a:solidFill>
              <a:srgbClr val="C9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868680" y="29260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Plan Your Visit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2926080" y="2926080"/>
            <a:ext cx="2011680" cy="384048"/>
          </a:xfrm>
          <a:prstGeom prst="roundRect">
            <a:avLst>
              <a:gd fmla="val 50000" name="adj"/>
            </a:avLst>
          </a:prstGeom>
          <a:solidFill>
            <a:srgbClr val="1C2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 txBox="1"/>
          <p:nvPr/>
        </p:nvSpPr>
        <p:spPr>
          <a:xfrm>
            <a:off x="2926080" y="292608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Watch a Sermon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5486400" y="23774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AA6B2"/>
                </a:solidFill>
                <a:latin typeface="Arial"/>
                <a:ea typeface="Arial"/>
                <a:cs typeface="Arial"/>
                <a:sym typeface="Arial"/>
              </a:rPr>
              <a:t>[ hero photo of the congregation 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731520" y="3584448"/>
            <a:ext cx="2514600" cy="731520"/>
          </a:xfrm>
          <a:prstGeom prst="roundRect">
            <a:avLst>
              <a:gd fmla="val 10000" name="adj"/>
            </a:avLst>
          </a:prstGeom>
          <a:solidFill>
            <a:srgbClr val="F4F4F1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868680" y="3721608"/>
            <a:ext cx="457200" cy="45720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" y="38359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 txBox="1"/>
          <p:nvPr/>
        </p:nvSpPr>
        <p:spPr>
          <a:xfrm>
            <a:off x="1417320" y="3584448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Latest sermon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3337560" y="3584448"/>
            <a:ext cx="2514600" cy="731520"/>
          </a:xfrm>
          <a:prstGeom prst="roundRect">
            <a:avLst>
              <a:gd fmla="val 10000" name="adj"/>
            </a:avLst>
          </a:prstGeom>
          <a:solidFill>
            <a:srgbClr val="F4F4F1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3474720" y="3721608"/>
            <a:ext cx="457200" cy="45720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9020" y="38359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9"/>
          <p:cNvSpPr txBox="1"/>
          <p:nvPr/>
        </p:nvSpPr>
        <p:spPr>
          <a:xfrm>
            <a:off x="4023360" y="3584448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Upcoming events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943600" y="3584448"/>
            <a:ext cx="2514600" cy="731520"/>
          </a:xfrm>
          <a:prstGeom prst="roundRect">
            <a:avLst>
              <a:gd fmla="val 10000" name="adj"/>
            </a:avLst>
          </a:prstGeom>
          <a:solidFill>
            <a:srgbClr val="F4F4F1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6080760" y="3721608"/>
            <a:ext cx="457200" cy="45720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5060" y="38359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 txBox="1"/>
          <p:nvPr/>
        </p:nvSpPr>
        <p:spPr>
          <a:xfrm>
            <a:off x="6629400" y="3584448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Ministries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Footer: address · phone · church email · map · social · 한국어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On a phone, and in Korean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Most first-time visitors will find us on a phone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822960" y="1417320"/>
            <a:ext cx="2194560" cy="3520440"/>
          </a:xfrm>
          <a:prstGeom prst="roundRect">
            <a:avLst>
              <a:gd fmla="val 10417" name="adj"/>
            </a:avLst>
          </a:prstGeom>
          <a:solidFill>
            <a:srgbClr val="FFFFFF"/>
          </a:solidFill>
          <a:ln cap="flat" cmpd="sng" w="25400">
            <a:solidFill>
              <a:srgbClr val="C9CD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2514600" y="150876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1005840" y="150876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GCC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822960" y="1920240"/>
            <a:ext cx="2194560" cy="1417320"/>
          </a:xfrm>
          <a:prstGeom prst="rect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960120" y="20116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Welcome home.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960120" y="23774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9D1DA"/>
                </a:solidFill>
                <a:latin typeface="Arial"/>
                <a:ea typeface="Arial"/>
                <a:cs typeface="Arial"/>
                <a:sym typeface="Arial"/>
              </a:rPr>
              <a:t>Sundays · [time]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9D1DA"/>
                </a:solidFill>
                <a:latin typeface="Arial"/>
                <a:ea typeface="Arial"/>
                <a:cs typeface="Arial"/>
                <a:sym typeface="Arial"/>
              </a:rPr>
              <a:t>Des Plaines, 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960120" y="2944368"/>
            <a:ext cx="1920240" cy="329184"/>
          </a:xfrm>
          <a:prstGeom prst="roundRect">
            <a:avLst>
              <a:gd fmla="val 50000" name="adj"/>
            </a:avLst>
          </a:prstGeom>
          <a:solidFill>
            <a:srgbClr val="C9A24B"/>
          </a:solidFill>
          <a:ln cap="flat" cmpd="sng" w="12700">
            <a:solidFill>
              <a:srgbClr val="C9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 txBox="1"/>
          <p:nvPr/>
        </p:nvSpPr>
        <p:spPr>
          <a:xfrm>
            <a:off x="960120" y="2944368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Plan Your Visit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960120" y="3474720"/>
            <a:ext cx="1920240" cy="384048"/>
          </a:xfrm>
          <a:prstGeom prst="roundRect">
            <a:avLst>
              <a:gd fmla="val 19048" name="adj"/>
            </a:avLst>
          </a:prstGeom>
          <a:solidFill>
            <a:srgbClr val="F4F4F1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1097280" y="347472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Latest sermon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960120" y="3931920"/>
            <a:ext cx="1920240" cy="384048"/>
          </a:xfrm>
          <a:prstGeom prst="roundRect">
            <a:avLst>
              <a:gd fmla="val 19048" name="adj"/>
            </a:avLst>
          </a:prstGeom>
          <a:solidFill>
            <a:srgbClr val="F4F4F1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 txBox="1"/>
          <p:nvPr/>
        </p:nvSpPr>
        <p:spPr>
          <a:xfrm>
            <a:off x="1097280" y="393192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960120" y="4389120"/>
            <a:ext cx="1920240" cy="384048"/>
          </a:xfrm>
          <a:prstGeom prst="roundRect">
            <a:avLst>
              <a:gd fmla="val 19048" name="adj"/>
            </a:avLst>
          </a:prstGeom>
          <a:solidFill>
            <a:srgbClr val="F4F4F1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1097280" y="438912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Give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566160" y="1417320"/>
            <a:ext cx="5029200" cy="352044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 txBox="1"/>
          <p:nvPr/>
        </p:nvSpPr>
        <p:spPr>
          <a:xfrm>
            <a:off x="3840480" y="160020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한국어 section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3840480" y="2103120"/>
            <a:ext cx="45262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A “한국어” link in the header and footer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One landing page, Korean only: 예배시간, 목사님 인사, 교회 기도제목, 오시는 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Same YouTube playlists — no duplicate uploads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Kept short on purpose so it stays easy to update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Real examples to match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Browse these live demos — we like the warm, clean, photo-led style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548640" y="1508760"/>
            <a:ext cx="804672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 txBox="1"/>
          <p:nvPr/>
        </p:nvSpPr>
        <p:spPr>
          <a:xfrm>
            <a:off x="822960" y="161848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Squarespace church templates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 txBox="1"/>
          <p:nvPr/>
        </p:nvSpPr>
        <p:spPr>
          <a:xfrm>
            <a:off x="822960" y="19842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Cove and other church-specific layouts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4754880" y="1618488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9A24B"/>
                </a:solidFill>
                <a:latin typeface="Arial"/>
                <a:ea typeface="Arial"/>
                <a:cs typeface="Arial"/>
                <a:sym typeface="Arial"/>
              </a:rPr>
              <a:t>squarespace.com/website-templates/church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548640" y="2560320"/>
            <a:ext cx="804672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 txBox="1"/>
          <p:nvPr/>
        </p:nvSpPr>
        <p:spPr>
          <a:xfrm>
            <a:off x="822960" y="26700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Wix religion templates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822960" y="303580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Trinity Urban Church and similar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4754880" y="2670048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9A24B"/>
                </a:solidFill>
                <a:latin typeface="Arial"/>
                <a:ea typeface="Arial"/>
                <a:cs typeface="Arial"/>
                <a:sym typeface="Arial"/>
              </a:rPr>
              <a:t>wix.com/website/templates/html/communities/religion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48640" y="3611880"/>
            <a:ext cx="804672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822960" y="372160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Safe Haven (Squarespace)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822960" y="408736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Warm, modern church template 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4754880" y="3721608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9A24B"/>
                </a:solidFill>
                <a:latin typeface="Arial"/>
                <a:ea typeface="Arial"/>
                <a:cs typeface="Arial"/>
                <a:sym typeface="Arial"/>
              </a:rPr>
              <a:t>websitesbyelise.com/squarespace-designer-blog/squarespace-church-templates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Paste 1–2 screenshots of your favorite demo here before presenting.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Core pages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About Us · Visit · Ministries · Missions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548640" y="1508760"/>
            <a:ext cx="1920240" cy="3246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8059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2"/>
          <p:cNvSpPr txBox="1"/>
          <p:nvPr/>
        </p:nvSpPr>
        <p:spPr>
          <a:xfrm>
            <a:off x="1280160" y="169164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731520" y="2286000"/>
            <a:ext cx="1645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Who we 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What we believe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Our story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Leadership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2587752" y="1508760"/>
            <a:ext cx="1920240" cy="3246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2770632" y="1691640"/>
            <a:ext cx="457200" cy="45720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4932" y="18059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2"/>
          <p:cNvSpPr txBox="1"/>
          <p:nvPr/>
        </p:nvSpPr>
        <p:spPr>
          <a:xfrm>
            <a:off x="3319272" y="169164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Visit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2770632" y="2286000"/>
            <a:ext cx="1645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Service 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Directions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Parking &amp; transit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Kids ministry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What to expect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626864" y="1508760"/>
            <a:ext cx="1920240" cy="3246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4809744" y="1691640"/>
            <a:ext cx="457200" cy="45720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4044" y="18059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 txBox="1"/>
          <p:nvPr/>
        </p:nvSpPr>
        <p:spPr>
          <a:xfrm>
            <a:off x="5358384" y="169164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Ministries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4809744" y="2286000"/>
            <a:ext cx="1645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Children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Youth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Young Adults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Adults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Easy to add/remove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6665976" y="1508760"/>
            <a:ext cx="1920240" cy="3246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6848856" y="1691640"/>
            <a:ext cx="457200" cy="45720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3156" y="18059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2"/>
          <p:cNvSpPr txBox="1"/>
          <p:nvPr/>
        </p:nvSpPr>
        <p:spPr>
          <a:xfrm>
            <a:off x="7397496" y="169164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Missions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6848856" y="2286000"/>
            <a:ext cx="1645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Where we serve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Our missionaries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News &amp; updates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Get involved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Core pages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Sermons · Events · Give · Contact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548640" y="1508760"/>
            <a:ext cx="393192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970" y="18630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3"/>
          <p:cNvSpPr txBox="1"/>
          <p:nvPr/>
        </p:nvSpPr>
        <p:spPr>
          <a:xfrm>
            <a:off x="1417320" y="17099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Sermons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 txBox="1"/>
          <p:nvPr/>
        </p:nvSpPr>
        <p:spPr>
          <a:xfrm>
            <a:off x="777240" y="228600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Embed the church YouTube channel so new sermons appear automatically.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4663440" y="1508760"/>
            <a:ext cx="393192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4892040" y="17373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7770" y="18630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 txBox="1"/>
          <p:nvPr/>
        </p:nvSpPr>
        <p:spPr>
          <a:xfrm>
            <a:off x="5532120" y="17099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4892040" y="228600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Name, date, time, location, description, image, optional registration link.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548640" y="3337560"/>
            <a:ext cx="393192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2970" y="36918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3"/>
          <p:cNvSpPr txBox="1"/>
          <p:nvPr/>
        </p:nvSpPr>
        <p:spPr>
          <a:xfrm>
            <a:off x="1417320" y="35387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Give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777240" y="411480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Simple page with a button to our existing giving platform. No custom payments.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4663440" y="3337560"/>
            <a:ext cx="393192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4892040" y="35661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7770" y="36918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3"/>
          <p:cNvSpPr txBox="1"/>
          <p:nvPr/>
        </p:nvSpPr>
        <p:spPr>
          <a:xfrm>
            <a:off x="5532120" y="35387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4892040" y="411480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Address, phone, email, contact form, Google Map, and social media links.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Design direction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Professional but not corporate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548640" y="1554480"/>
            <a:ext cx="1874520" cy="685800"/>
          </a:xfrm>
          <a:prstGeom prst="roundRect">
            <a:avLst>
              <a:gd fmla="val 46667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 txBox="1"/>
          <p:nvPr/>
        </p:nvSpPr>
        <p:spPr>
          <a:xfrm>
            <a:off x="548640" y="155448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Modern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2560320" y="1554480"/>
            <a:ext cx="1874520" cy="685800"/>
          </a:xfrm>
          <a:prstGeom prst="roundRect">
            <a:avLst>
              <a:gd fmla="val 46667" name="adj"/>
            </a:avLst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 txBox="1"/>
          <p:nvPr/>
        </p:nvSpPr>
        <p:spPr>
          <a:xfrm>
            <a:off x="2560320" y="155448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4572000" y="1554480"/>
            <a:ext cx="1874520" cy="685800"/>
          </a:xfrm>
          <a:prstGeom prst="roundRect">
            <a:avLst>
              <a:gd fmla="val 46667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 txBox="1"/>
          <p:nvPr/>
        </p:nvSpPr>
        <p:spPr>
          <a:xfrm>
            <a:off x="4572000" y="155448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Welcoming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6583680" y="1554480"/>
            <a:ext cx="1874520" cy="685800"/>
          </a:xfrm>
          <a:prstGeom prst="roundRect">
            <a:avLst>
              <a:gd fmla="val 46667" name="adj"/>
            </a:avLst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 txBox="1"/>
          <p:nvPr/>
        </p:nvSpPr>
        <p:spPr>
          <a:xfrm>
            <a:off x="6583680" y="155448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Christ-centered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548640" y="2423160"/>
            <a:ext cx="1874520" cy="685800"/>
          </a:xfrm>
          <a:prstGeom prst="roundRect">
            <a:avLst>
              <a:gd fmla="val 46667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 txBox="1"/>
          <p:nvPr/>
        </p:nvSpPr>
        <p:spPr>
          <a:xfrm>
            <a:off x="548640" y="242316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Mobile-friendly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2560320" y="2423160"/>
            <a:ext cx="1874520" cy="685800"/>
          </a:xfrm>
          <a:prstGeom prst="roundRect">
            <a:avLst>
              <a:gd fmla="val 46667" name="adj"/>
            </a:avLst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"/>
          <p:cNvSpPr txBox="1"/>
          <p:nvPr/>
        </p:nvSpPr>
        <p:spPr>
          <a:xfrm>
            <a:off x="2560320" y="242316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Easy to navigate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4572000" y="2423160"/>
            <a:ext cx="1874520" cy="685800"/>
          </a:xfrm>
          <a:prstGeom prst="roundRect">
            <a:avLst>
              <a:gd fmla="val 46667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 txBox="1"/>
          <p:nvPr/>
        </p:nvSpPr>
        <p:spPr>
          <a:xfrm>
            <a:off x="4572000" y="242316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Attractive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6583680" y="2423160"/>
            <a:ext cx="1874520" cy="685800"/>
          </a:xfrm>
          <a:prstGeom prst="roundRect">
            <a:avLst>
              <a:gd fmla="val 46667" name="adj"/>
            </a:avLst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 txBox="1"/>
          <p:nvPr/>
        </p:nvSpPr>
        <p:spPr>
          <a:xfrm>
            <a:off x="6583680" y="242316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Uncomplicated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548640" y="3429000"/>
            <a:ext cx="8046720" cy="1143000"/>
          </a:xfrm>
          <a:prstGeom prst="roundRect">
            <a:avLst>
              <a:gd fmla="val 9600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 txBox="1"/>
          <p:nvPr/>
        </p:nvSpPr>
        <p:spPr>
          <a:xfrm>
            <a:off x="822960" y="3566160"/>
            <a:ext cx="7498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Please avoid: </a:t>
            </a: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excessive animations, complicated features, and anything a volunteer could not safely edit. Simplicity and ease of maintenance beat visual flourish every time.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Scope &amp; handoff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Setup only — the church supplies all content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548640" y="1508760"/>
            <a:ext cx="384048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"/>
          <p:cNvSpPr txBox="1"/>
          <p:nvPr/>
        </p:nvSpPr>
        <p:spPr>
          <a:xfrm>
            <a:off x="822960" y="16459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Freelancer delivers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 txBox="1"/>
          <p:nvPr/>
        </p:nvSpPr>
        <p:spPr>
          <a:xfrm>
            <a:off x="822960" y="2103120"/>
            <a:ext cx="34290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Set up template, 8 pages + Korean page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YouTube, Events, Give, contact 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Transfer admin, domain, logins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30–60 min video walkthrough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Written upkeep instructions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4663440" y="1508760"/>
            <a:ext cx="393192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 txBox="1"/>
          <p:nvPr/>
        </p:nvSpPr>
        <p:spPr>
          <a:xfrm>
            <a:off x="4937760" y="16459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Video walkthrough covers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4937760" y="210312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Edit text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Change photos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Add and edit events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Add and remove ministries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Update service information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Add sermons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Make basic website changes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What the church provides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Ready before work begins, so setup stays fast and cheap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548640" y="1508760"/>
            <a:ext cx="393192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2" name="Google Shape;3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970" y="18630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6"/>
          <p:cNvSpPr txBox="1"/>
          <p:nvPr/>
        </p:nvSpPr>
        <p:spPr>
          <a:xfrm>
            <a:off x="1417320" y="173736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All page text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 txBox="1"/>
          <p:nvPr/>
        </p:nvSpPr>
        <p:spPr>
          <a:xfrm>
            <a:off x="777240" y="228600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English pages, missions info, and the Korean page text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4663440" y="1508760"/>
            <a:ext cx="393192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4892040" y="17373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7770" y="18630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6"/>
          <p:cNvSpPr txBox="1"/>
          <p:nvPr/>
        </p:nvSpPr>
        <p:spPr>
          <a:xfrm>
            <a:off x="5532120" y="173736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Photos and logo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4892040" y="228600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Service, people, building — high resolution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548640" y="3108960"/>
            <a:ext cx="393192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/>
          <p:nvPr/>
        </p:nvSpPr>
        <p:spPr>
          <a:xfrm>
            <a:off x="777240" y="33375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2970" y="34632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6"/>
          <p:cNvSpPr txBox="1"/>
          <p:nvPr/>
        </p:nvSpPr>
        <p:spPr>
          <a:xfrm>
            <a:off x="1417320" y="333756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Accounts and links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 txBox="1"/>
          <p:nvPr/>
        </p:nvSpPr>
        <p:spPr>
          <a:xfrm>
            <a:off x="777240" y="388620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YouTube channel, giving platform link, social links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4663440" y="3108960"/>
            <a:ext cx="393192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12700">
            <a:solidFill>
              <a:srgbClr val="E9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4892040" y="3337560"/>
            <a:ext cx="502920" cy="502920"/>
          </a:xfrm>
          <a:prstGeom prst="ellipse">
            <a:avLst/>
          </a:prstGeom>
          <a:solidFill>
            <a:srgbClr val="1C2B3A"/>
          </a:solidFill>
          <a:ln cap="flat" cmpd="sng" w="12700">
            <a:solidFill>
              <a:srgbClr val="1C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7770" y="34632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6"/>
          <p:cNvSpPr txBox="1"/>
          <p:nvPr/>
        </p:nvSpPr>
        <p:spPr>
          <a:xfrm>
            <a:off x="5532120" y="333756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2B3A"/>
                </a:solidFill>
                <a:latin typeface="Arial"/>
                <a:ea typeface="Arial"/>
                <a:cs typeface="Arial"/>
                <a:sym typeface="Arial"/>
              </a:rPr>
              <a:t>Service details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4892040" y="388620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03B"/>
                </a:solidFill>
                <a:latin typeface="Arial"/>
                <a:ea typeface="Arial"/>
                <a:cs typeface="Arial"/>
                <a:sym typeface="Arial"/>
              </a:rPr>
              <a:t>Time, address, parking, transit, children's ministry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3A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"/>
          <p:cNvSpPr/>
          <p:nvPr/>
        </p:nvSpPr>
        <p:spPr>
          <a:xfrm>
            <a:off x="-1463040" y="3017520"/>
            <a:ext cx="3840480" cy="3840480"/>
          </a:xfrm>
          <a:prstGeom prst="ellipse">
            <a:avLst/>
          </a:prstGeom>
          <a:solidFill>
            <a:srgbClr val="2A3B4D"/>
          </a:solidFill>
          <a:ln cap="flat" cmpd="sng" w="12700">
            <a:solidFill>
              <a:srgbClr val="2A3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Budget &amp; your proposal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 txBox="1"/>
          <p:nvPr/>
        </p:nvSpPr>
        <p:spPr>
          <a:xfrm>
            <a:off x="640080" y="123444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C9A24B"/>
                </a:solidFill>
                <a:latin typeface="Arial"/>
                <a:ea typeface="Arial"/>
                <a:cs typeface="Arial"/>
                <a:sym typeface="Arial"/>
              </a:rPr>
              <a:t>$300–$600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 txBox="1"/>
          <p:nvPr/>
        </p:nvSpPr>
        <p:spPr>
          <a:xfrm>
            <a:off x="640080" y="224028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9D1DA"/>
                </a:solidFill>
                <a:latin typeface="Arial"/>
                <a:ea typeface="Arial"/>
                <a:cs typeface="Arial"/>
                <a:sym typeface="Arial"/>
              </a:rPr>
              <a:t>Setup only — 8 English pages + 1 Korean page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4663440" y="12801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Please include in your proposal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4663440" y="1737360"/>
            <a:ext cx="38404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AE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E6EAEE"/>
                </a:solidFill>
                <a:latin typeface="Arial"/>
                <a:ea typeface="Arial"/>
                <a:cs typeface="Arial"/>
                <a:sym typeface="Arial"/>
              </a:rPr>
              <a:t>Examples of church or nonprofit sites you built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6EAE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E6EAEE"/>
                </a:solidFill>
                <a:latin typeface="Arial"/>
                <a:ea typeface="Arial"/>
                <a:cs typeface="Arial"/>
                <a:sym typeface="Arial"/>
              </a:rPr>
              <a:t>Platform and template recommendation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6EAE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E6EAEE"/>
                </a:solidFill>
                <a:latin typeface="Arial"/>
                <a:ea typeface="Arial"/>
                <a:cs typeface="Arial"/>
                <a:sym typeface="Arial"/>
              </a:rPr>
              <a:t>Fixed price and timeline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6EAE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E6EAEE"/>
                </a:solidFill>
                <a:latin typeface="Arial"/>
                <a:ea typeface="Arial"/>
                <a:cs typeface="Arial"/>
                <a:sym typeface="Arial"/>
              </a:rPr>
              <a:t>What is and is not included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 txBox="1"/>
          <p:nvPr/>
        </p:nvSpPr>
        <p:spPr>
          <a:xfrm>
            <a:off x="4663440" y="42976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9AA6B2"/>
                </a:solidFill>
                <a:latin typeface="Arial"/>
                <a:ea typeface="Arial"/>
                <a:cs typeface="Arial"/>
                <a:sym typeface="Arial"/>
              </a:rPr>
              <a:t>Thank you — we look forward to your proposal.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700" y="871538"/>
            <a:ext cx="586740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8"/>
          <p:cNvSpPr txBox="1"/>
          <p:nvPr/>
        </p:nvSpPr>
        <p:spPr>
          <a:xfrm>
            <a:off x="0" y="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C2B3A"/>
                </a:solidFill>
              </a:rPr>
              <a:t>Examples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"/>
          <p:cNvSpPr txBox="1"/>
          <p:nvPr/>
        </p:nvSpPr>
        <p:spPr>
          <a:xfrm>
            <a:off x="0" y="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C2B3A"/>
                </a:solidFill>
              </a:rPr>
              <a:t>Examples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8425" y="234050"/>
            <a:ext cx="5839200" cy="4734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